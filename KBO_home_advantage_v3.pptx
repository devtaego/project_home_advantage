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홈팀 승률(%)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2026*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53.6</c:v>
                </c:pt>
                <c:pt idx="1">
                  <c:v>49.3</c:v>
                </c:pt>
                <c:pt idx="2">
                  <c:v>53.1</c:v>
                </c:pt>
                <c:pt idx="3">
                  <c:v>51.1</c:v>
                </c:pt>
                <c:pt idx="4">
                  <c:v>51.3</c:v>
                </c:pt>
                <c:pt idx="5">
                  <c:v>51.4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01-4B19-BE06-B46E6AEA39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50% (어드밴티지 없음)</c:v>
                </c:pt>
              </c:strCache>
            </c:strRef>
          </c:tx>
          <c:spPr>
            <a:ln w="38100" cap="flat">
              <a:solidFill>
                <a:srgbClr val="9AA5A0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9AA5A0"/>
              </a:solidFill>
              <a:ln w="9525" cap="flat">
                <a:solidFill>
                  <a:srgbClr val="9AA5A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2026*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01-4B19-BE06-B46E6AEA39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"/>
          <c:min val="46"/>
        </c:scaling>
        <c:delete val="0"/>
        <c:axPos val="l"/>
        <c:majorGridlines>
          <c:spPr>
            <a:ln w="9525" cap="flat">
              <a:solidFill>
                <a:srgbClr val="DD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A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홈팀 승률(%)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24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9월</c:v>
                </c:pt>
                <c:pt idx="7">
                  <c:v>10월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56.8</c:v>
                </c:pt>
                <c:pt idx="1">
                  <c:v>53.1</c:v>
                </c:pt>
                <c:pt idx="2">
                  <c:v>46.3</c:v>
                </c:pt>
                <c:pt idx="3">
                  <c:v>52.7</c:v>
                </c:pt>
                <c:pt idx="4">
                  <c:v>51.7</c:v>
                </c:pt>
                <c:pt idx="5">
                  <c:v>51.5</c:v>
                </c:pt>
                <c:pt idx="6">
                  <c:v>52.7</c:v>
                </c:pt>
                <c:pt idx="7">
                  <c:v>56.1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A5-4598-9231-314DB7DCF0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9525" cap="flat">
              <a:solidFill>
                <a:srgbClr val="DD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홈 평균 득점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24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4.83</c:v>
                </c:pt>
                <c:pt idx="1">
                  <c:v>4.38</c:v>
                </c:pt>
                <c:pt idx="2">
                  <c:v>4.6900000000000004</c:v>
                </c:pt>
                <c:pt idx="3">
                  <c:v>5.36</c:v>
                </c:pt>
                <c:pt idx="4">
                  <c:v>4.68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9F-47A1-B8D2-8A758163FF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원정 평균 득점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24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4.75</c:v>
                </c:pt>
                <c:pt idx="1">
                  <c:v>4.68</c:v>
                </c:pt>
                <c:pt idx="2">
                  <c:v>4.51</c:v>
                </c:pt>
                <c:pt idx="3">
                  <c:v>5.39</c:v>
                </c:pt>
                <c:pt idx="4">
                  <c:v>4.78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9F-47A1-B8D2-8A758163FF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  <c:min val="3.5"/>
        </c:scaling>
        <c:delete val="0"/>
        <c:axPos val="l"/>
        <c:majorGridlines>
          <c:spPr>
            <a:ln w="9525" cap="flat">
              <a:solidFill>
                <a:srgbClr val="DD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A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홈팀 승률(%)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24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1점차</c:v>
                </c:pt>
                <c:pt idx="1">
                  <c:v>2~3점차</c:v>
                </c:pt>
                <c:pt idx="2">
                  <c:v>4~6점차</c:v>
                </c:pt>
                <c:pt idx="3">
                  <c:v>7점차+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57.7</c:v>
                </c:pt>
                <c:pt idx="1">
                  <c:v>51.5</c:v>
                </c:pt>
                <c:pt idx="2">
                  <c:v>49.5</c:v>
                </c:pt>
                <c:pt idx="3">
                  <c:v>46.9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98-4528-9F74-7E357B92D1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2"/>
          <c:min val="40"/>
        </c:scaling>
        <c:delete val="0"/>
        <c:axPos val="l"/>
        <c:majorGridlines>
          <c:spPr>
            <a:ln w="9525" cap="flat">
              <a:solidFill>
                <a:srgbClr val="DD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홈 − 원정 승률(%p)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24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키움</c:v>
                </c:pt>
                <c:pt idx="1">
                  <c:v>삼성</c:v>
                </c:pt>
                <c:pt idx="2">
                  <c:v>NC</c:v>
                </c:pt>
                <c:pt idx="3">
                  <c:v>SSG</c:v>
                </c:pt>
                <c:pt idx="4">
                  <c:v>한화</c:v>
                </c:pt>
                <c:pt idx="5">
                  <c:v>롯데</c:v>
                </c:pt>
                <c:pt idx="6">
                  <c:v>KT</c:v>
                </c:pt>
                <c:pt idx="7">
                  <c:v>KIA</c:v>
                </c:pt>
                <c:pt idx="8">
                  <c:v>두산</c:v>
                </c:pt>
                <c:pt idx="9">
                  <c:v>LG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7.6</c:v>
                </c:pt>
                <c:pt idx="1">
                  <c:v>6.2</c:v>
                </c:pt>
                <c:pt idx="2">
                  <c:v>5.8</c:v>
                </c:pt>
                <c:pt idx="3">
                  <c:v>5.6</c:v>
                </c:pt>
                <c:pt idx="4">
                  <c:v>4</c:v>
                </c:pt>
                <c:pt idx="5">
                  <c:v>2.8</c:v>
                </c:pt>
                <c:pt idx="6">
                  <c:v>2.2000000000000002</c:v>
                </c:pt>
                <c:pt idx="7">
                  <c:v>0.3</c:v>
                </c:pt>
                <c:pt idx="8">
                  <c:v>-0.2</c:v>
                </c:pt>
                <c:pt idx="9">
                  <c:v>-1.3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03-4816-BA18-A8E70E1540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-4"/>
        </c:scaling>
        <c:delete val="0"/>
        <c:axPos val="l"/>
        <c:majorGridlines>
          <c:spPr>
            <a:ln w="9525" cap="flat">
              <a:solidFill>
                <a:srgbClr val="DD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41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ll"/>
          <p:cNvSpPr/>
          <p:nvPr/>
        </p:nvSpPr>
        <p:spPr>
          <a:xfrm>
            <a:off x="5760720" y="822960"/>
            <a:ext cx="3017520" cy="3017520"/>
          </a:xfrm>
          <a:prstGeom prst="ellipse">
            <a:avLst/>
          </a:prstGeom>
          <a:solidFill>
            <a:srgbClr val="F4F1EA"/>
          </a:solidFill>
          <a:ln w="508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60720" y="15544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4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AWAY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KBO 홈 어드밴티지,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있을까?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2021–2025 시즌 경기 결과로 확인해 봤습니다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홈팀이 유리하다는 말, 진짜일까?</a:t>
            </a:r>
            <a:endParaRPr lang="en-US" sz="2600" dirty="0"/>
          </a:p>
        </p:txBody>
      </p:sp>
      <p:sp>
        <p:nvSpPr>
          <p:cNvPr id="3" name="c1.40"/>
          <p:cNvSpPr/>
          <p:nvPr/>
        </p:nvSpPr>
        <p:spPr>
          <a:xfrm>
            <a:off x="5486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0B3D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3,600경기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1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2021–2025 경기별 결과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+ 2026 시즌 기록</a:t>
            </a:r>
            <a:endParaRPr lang="en-US" sz="1200" dirty="0"/>
          </a:p>
        </p:txBody>
      </p:sp>
      <p:sp>
        <p:nvSpPr>
          <p:cNvPr id="7" name="c1.41"/>
          <p:cNvSpPr/>
          <p:nvPr/>
        </p:nvSpPr>
        <p:spPr>
          <a:xfrm>
            <a:off x="32918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E8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승률 비교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승률 50% 초과 여부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이항검정 · 전력 보정</a:t>
            </a:r>
            <a:endParaRPr lang="en-US" sz="1200" dirty="0"/>
          </a:p>
        </p:txBody>
      </p:sp>
      <p:sp>
        <p:nvSpPr>
          <p:cNvPr id="11" name="c1.42"/>
          <p:cNvSpPr/>
          <p:nvPr/>
        </p:nvSpPr>
        <p:spPr>
          <a:xfrm>
            <a:off x="60350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E8F0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&gt; 50%?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무승부를 제외한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승부 경기 기준</a:t>
            </a:r>
            <a:endParaRPr lang="en-US" sz="1200" dirty="0"/>
          </a:p>
        </p:txBody>
      </p:sp>
      <p:sp>
        <p:nvSpPr>
          <p:cNvPr id="15" name="chip0"/>
          <p:cNvSpPr/>
          <p:nvPr/>
        </p:nvSpPr>
        <p:spPr>
          <a:xfrm>
            <a:off x="548640" y="3749040"/>
            <a:ext cx="1069848" cy="411480"/>
          </a:xfrm>
          <a:prstGeom prst="roundRect">
            <a:avLst>
              <a:gd name="adj" fmla="val 44444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4904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1200" dirty="0"/>
          </a:p>
        </p:txBody>
      </p:sp>
      <p:sp>
        <p:nvSpPr>
          <p:cNvPr id="17" name="chip1"/>
          <p:cNvSpPr/>
          <p:nvPr/>
        </p:nvSpPr>
        <p:spPr>
          <a:xfrm>
            <a:off x="1709928" y="3749040"/>
            <a:ext cx="1069848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09928" y="374904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</a:t>
            </a:r>
            <a:endParaRPr lang="en-US" sz="1200" dirty="0"/>
          </a:p>
        </p:txBody>
      </p:sp>
      <p:sp>
        <p:nvSpPr>
          <p:cNvPr id="19" name="chip2"/>
          <p:cNvSpPr/>
          <p:nvPr/>
        </p:nvSpPr>
        <p:spPr>
          <a:xfrm>
            <a:off x="2871216" y="3749040"/>
            <a:ext cx="1069848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71216" y="374904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</a:t>
            </a:r>
            <a:endParaRPr lang="en-US" sz="1200" dirty="0"/>
          </a:p>
        </p:txBody>
      </p:sp>
      <p:sp>
        <p:nvSpPr>
          <p:cNvPr id="21" name="chip3"/>
          <p:cNvSpPr/>
          <p:nvPr/>
        </p:nvSpPr>
        <p:spPr>
          <a:xfrm>
            <a:off x="4032504" y="3749040"/>
            <a:ext cx="1069848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32504" y="374904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득점</a:t>
            </a:r>
            <a:endParaRPr lang="en-US" sz="1200" dirty="0"/>
          </a:p>
        </p:txBody>
      </p:sp>
      <p:sp>
        <p:nvSpPr>
          <p:cNvPr id="23" name="chip4"/>
          <p:cNvSpPr/>
          <p:nvPr/>
        </p:nvSpPr>
        <p:spPr>
          <a:xfrm>
            <a:off x="5193792" y="3749040"/>
            <a:ext cx="1069848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3792" y="374904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접전</a:t>
            </a:r>
            <a:endParaRPr lang="en-US" sz="1200" dirty="0"/>
          </a:p>
        </p:txBody>
      </p:sp>
      <p:sp>
        <p:nvSpPr>
          <p:cNvPr id="25" name="chip5"/>
          <p:cNvSpPr/>
          <p:nvPr/>
        </p:nvSpPr>
        <p:spPr>
          <a:xfrm>
            <a:off x="6355080" y="3749040"/>
            <a:ext cx="1069848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374904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</a:t>
            </a:r>
            <a:endParaRPr lang="en-US" sz="1200" dirty="0"/>
          </a:p>
        </p:txBody>
      </p:sp>
      <p:sp>
        <p:nvSpPr>
          <p:cNvPr id="27" name="chip6"/>
          <p:cNvSpPr/>
          <p:nvPr/>
        </p:nvSpPr>
        <p:spPr>
          <a:xfrm>
            <a:off x="7516368" y="3749040"/>
            <a:ext cx="1069848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16368" y="374904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보정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순서로 하나씩 확인해 봅니다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KBO 경기별 결과 2021–2025 (무승부 106경기 제외), 2026은 9/27 기준 팀별 기록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전체를 보면, 홈팀이 더 많이 이겼다</a:t>
            </a:r>
            <a:endParaRPr lang="en-US" sz="2600" dirty="0"/>
          </a:p>
        </p:txBody>
      </p:sp>
      <p:sp>
        <p:nvSpPr>
          <p:cNvPr id="3" name="c1.40"/>
          <p:cNvSpPr/>
          <p:nvPr/>
        </p:nvSpPr>
        <p:spPr>
          <a:xfrm>
            <a:off x="5486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0B3D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51.7%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1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홈팀 승률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 신뢰구간 50.0–53.3%</a:t>
            </a:r>
            <a:endParaRPr lang="en-US" sz="1200" dirty="0"/>
          </a:p>
        </p:txBody>
      </p:sp>
      <p:sp>
        <p:nvSpPr>
          <p:cNvPr id="7" name="c1.41"/>
          <p:cNvSpPr/>
          <p:nvPr/>
        </p:nvSpPr>
        <p:spPr>
          <a:xfrm>
            <a:off x="32918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E8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3,494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승부가 난 경기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2021–2025, 무승부 제외</a:t>
            </a:r>
            <a:endParaRPr lang="en-US" sz="1200" dirty="0"/>
          </a:p>
        </p:txBody>
      </p:sp>
      <p:sp>
        <p:nvSpPr>
          <p:cNvPr id="11" name="c1.42"/>
          <p:cNvSpPr/>
          <p:nvPr/>
        </p:nvSpPr>
        <p:spPr>
          <a:xfrm>
            <a:off x="60350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E8F0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+3.3%p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홈·원정 승률 격차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51.7% − 원정 48.3%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5시즌만으로는 p = 0.052, 2026을 더하면 p = 0.039 </a:t>
            </a:r>
            <a:r>
              <a:rPr lang="en-US" sz="15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통계적으로도 홈팀 우위가 확인되는 수준입니다.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그렇다면 이 우위는 해마다 꾸준할까?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해마다 꾸준할까?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ide"/>
          <p:cNvSpPr/>
          <p:nvPr/>
        </p:nvSpPr>
        <p:spPr>
          <a:xfrm>
            <a:off x="6126480" y="1234440"/>
            <a:ext cx="2468880" cy="3063240"/>
          </a:xfrm>
          <a:prstGeom prst="roundRect">
            <a:avLst>
              <a:gd name="adj" fmla="val 5556"/>
            </a:avLst>
          </a:prstGeom>
          <a:solidFill>
            <a:srgbClr val="E8F0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4173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6시즌 중 5시즌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승률이 50%를 넘었다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2022년만 예외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49.3%로 원정이 근소하게 우세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흔들려도 방향 유지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 간 차이는 우연 범위 (p = 0.51)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시즌 중에는 언제 특히 강할까?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중 언제 강할까?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ide"/>
          <p:cNvSpPr/>
          <p:nvPr/>
        </p:nvSpPr>
        <p:spPr>
          <a:xfrm>
            <a:off x="6126480" y="1234440"/>
            <a:ext cx="2468880" cy="3063240"/>
          </a:xfrm>
          <a:prstGeom prst="roundRect">
            <a:avLst>
              <a:gd name="adj" fmla="val 5556"/>
            </a:avLst>
          </a:prstGeom>
          <a:solidFill>
            <a:srgbClr val="E8F0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4173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8개월 중 7개월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승률이 50% 이상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3·10월 56%대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시작과 막판에 높다 (경기 수는 적음)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뚜렷한 시기 패턴 없음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우위는 시즌 내내 이어진다 (p = 0.18)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점수에서도 홈팀이 앞설까?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점수로도 드러날까?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ide"/>
          <p:cNvSpPr/>
          <p:nvPr/>
        </p:nvSpPr>
        <p:spPr>
          <a:xfrm>
            <a:off x="6126480" y="1234440"/>
            <a:ext cx="2468880" cy="3063240"/>
          </a:xfrm>
          <a:prstGeom prst="roundRect">
            <a:avLst>
              <a:gd name="adj" fmla="val 5556"/>
            </a:avLst>
          </a:prstGeom>
          <a:solidFill>
            <a:srgbClr val="E8F0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4173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4.79 vs 4.82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5시즌 평균 득점: 홈 vs 원정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득점은 비슷하다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없음 (p = 0.68)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많이 치는 게 아니라 더 잘 이긴다.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그렇다면 승부는 어디서 갈릴까?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홈팀은 앞서면 9회말을 치르지 않아 득점 기회 자체는 조금 적다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승부는 접전에서 갈린다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ide"/>
          <p:cNvSpPr/>
          <p:nvPr/>
        </p:nvSpPr>
        <p:spPr>
          <a:xfrm>
            <a:off x="6126480" y="1234440"/>
            <a:ext cx="2468880" cy="3063240"/>
          </a:xfrm>
          <a:prstGeom prst="roundRect">
            <a:avLst>
              <a:gd name="adj" fmla="val 5556"/>
            </a:avLst>
          </a:prstGeom>
          <a:solidFill>
            <a:srgbClr val="E8F0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4173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1점차 57.7%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843경기에서 뚜렷한 홈 우위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7점차+ 46.9%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점수차에선 비슷하거나 원정 우세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포인트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홈은 역전하는 순간 경기가 끝나 1점차 승리가 늘어나는 구조도 일부 반영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특정 팀의 영향은 아닐까?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승부가 난 경기를 최종 점수차별로 집계, 5시즌 3,494경기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팀마다 다를까?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ide"/>
          <p:cNvSpPr/>
          <p:nvPr/>
        </p:nvSpPr>
        <p:spPr>
          <a:xfrm>
            <a:off x="6126480" y="1234440"/>
            <a:ext cx="2468880" cy="3063240"/>
          </a:xfrm>
          <a:prstGeom prst="roundRect">
            <a:avLst>
              <a:gd name="adj" fmla="val 5556"/>
            </a:avLst>
          </a:prstGeom>
          <a:solidFill>
            <a:srgbClr val="E8F0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4173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10팀 중 8팀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승률이 원정 승률보다 높다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키움 +7.6%p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격차 (p = 0.049)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LG·두산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잠실을 함께 쓰는 두 팀은 격차가 거의 없다 (가설)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팀 전력 차이 때문은 아닐까?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홈 승률 − 원정 승률, 5시즌 합산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전력 때문은 아닐까?</a:t>
            </a:r>
            <a:endParaRPr lang="en-US" sz="2600" dirty="0"/>
          </a:p>
        </p:txBody>
      </p:sp>
      <p:sp>
        <p:nvSpPr>
          <p:cNvPr id="3" name="c1.40"/>
          <p:cNvSpPr/>
          <p:nvPr/>
        </p:nvSpPr>
        <p:spPr>
          <a:xfrm>
            <a:off x="5486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0B3D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51.7%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1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보정 홈 승률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 신뢰구간 50.0–53.3%</a:t>
            </a:r>
            <a:endParaRPr lang="en-US" sz="1200" dirty="0"/>
          </a:p>
        </p:txBody>
      </p:sp>
      <p:sp>
        <p:nvSpPr>
          <p:cNvPr id="7" name="c1.41"/>
          <p:cNvSpPr/>
          <p:nvPr/>
        </p:nvSpPr>
        <p:spPr>
          <a:xfrm>
            <a:off x="32918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E8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52.4%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홈 승률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2,298경기</a:t>
            </a:r>
            <a:endParaRPr lang="en-US" sz="1200" dirty="0"/>
          </a:p>
        </p:txBody>
      </p:sp>
      <p:sp>
        <p:nvSpPr>
          <p:cNvPr id="11" name="c1.42"/>
          <p:cNvSpPr/>
          <p:nvPr/>
        </p:nvSpPr>
        <p:spPr>
          <a:xfrm>
            <a:off x="6035040" y="12801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E8F0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3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50.3%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홈 승률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1,196경기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전력을 통제해도 51.7% </a:t>
            </a:r>
            <a:r>
              <a:rPr lang="en-US" sz="1500" dirty="0">
                <a:solidFill>
                  <a:srgbClr val="1B2B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홈 우위는 강팀·약팀 구성 때문이 아니라 홈 경기 자체의 효과입니다.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지금까지의 결과를 정리하면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홈팀 +1 / 원정팀 −1 팀 더미 + 절편(홈 효과) 로지스틱 회귀, 3,494경기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홈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어드밴티지는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존재한다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미세하지만</a:t>
            </a:r>
            <a:endParaRPr lang="en-US" sz="2800" dirty="0"/>
          </a:p>
        </p:txBody>
      </p:sp>
      <p:sp>
        <p:nvSpPr>
          <p:cNvPr id="3" name="dot0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447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꾸준한 홈 우위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6시즌 중 5시즌, 10팀 중 8팀에서 홈이 더 많이 이겼다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B1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51.7%</a:t>
            </a:r>
            <a:endParaRPr lang="en-US" sz="1800" dirty="0"/>
          </a:p>
        </p:txBody>
      </p:sp>
      <p:sp>
        <p:nvSpPr>
          <p:cNvPr id="7" name="dot1"/>
          <p:cNvSpPr/>
          <p:nvPr/>
        </p:nvSpPr>
        <p:spPr>
          <a:xfrm>
            <a:off x="548640" y="246888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4505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접전에서 빛난다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득점이 아니라 승부처에서 우위가 나타난다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B1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1점차 57.7%</a:t>
            </a:r>
            <a:endParaRPr lang="en-US" sz="1800" dirty="0"/>
          </a:p>
        </p:txBody>
      </p:sp>
      <p:sp>
        <p:nvSpPr>
          <p:cNvPr id="11" name="dot2"/>
          <p:cNvSpPr/>
          <p:nvPr/>
        </p:nvSpPr>
        <p:spPr>
          <a:xfrm>
            <a:off x="548640" y="347472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4564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홈이라서 생기는 효과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전력과 무관하게 51.7%가 유지된다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474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B1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보정 후에도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FD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과제: 선발투수 · 관중 · 이동거리로 홈 효과의 원인 분해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551</Words>
  <Application>Microsoft Office PowerPoint</Application>
  <PresentationFormat>화면 슬라이드 쇼(16:9)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KBO 홈 어드밴티지 분석</dc:title>
  <dc:subject>PptxGenJS Presentation</dc:subject>
  <dc:creator>PptxGenJS</dc:creator>
  <cp:lastModifiedBy>지연 최</cp:lastModifiedBy>
  <cp:revision>4</cp:revision>
  <dcterms:created xsi:type="dcterms:W3CDTF">2026-10-06T07:11:24Z</dcterms:created>
  <dcterms:modified xsi:type="dcterms:W3CDTF">2026-10-07T00:11:40Z</dcterms:modified>
</cp:coreProperties>
</file>